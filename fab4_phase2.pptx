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306" r:id="rId7"/>
    <p:sldId id="307" r:id="rId8"/>
    <p:sldId id="312" r:id="rId9"/>
    <p:sldId id="314" r:id="rId10"/>
    <p:sldId id="308" r:id="rId11"/>
    <p:sldId id="315" r:id="rId12"/>
    <p:sldId id="263" r:id="rId13"/>
    <p:sldId id="316" r:id="rId14"/>
    <p:sldId id="318" r:id="rId15"/>
    <p:sldId id="295" r:id="rId16"/>
    <p:sldId id="302" r:id="rId17"/>
    <p:sldId id="296" r:id="rId18"/>
    <p:sldId id="266" r:id="rId19"/>
    <p:sldId id="309" r:id="rId20"/>
    <p:sldId id="303" r:id="rId21"/>
    <p:sldId id="310" r:id="rId22"/>
    <p:sldId id="311" r:id="rId23"/>
    <p:sldId id="321" r:id="rId24"/>
    <p:sldId id="322" r:id="rId25"/>
    <p:sldId id="282" r:id="rId26"/>
    <p:sldId id="304" r:id="rId27"/>
    <p:sldId id="305" r:id="rId28"/>
    <p:sldId id="285" r:id="rId29"/>
    <p:sldId id="320" r:id="rId30"/>
    <p:sldId id="287" r:id="rId3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Times New Roman Bold" panose="02020803070505020304" pitchFamily="18" charset="0"/>
      <p:bold r:id="rId38"/>
    </p:embeddedFont>
  </p:embeddedFont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0" i="0" u="none" kern="1200" baseline="0">
        <a:solidFill>
          <a:srgbClr val="000000"/>
        </a:solidFill>
        <a:latin typeface="Arial" panose="020B0604020202090204" pitchFamily="34" charset="0"/>
        <a:ea typeface="+mn-ea"/>
        <a:cs typeface="+mn-cs"/>
        <a:sym typeface="Arial" panose="020B060402020209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3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4" y="4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/>
          <a:lstStyle/>
          <a:p>
            <a:pPr lvl="0" eaLnBrk="1" hangingPunct="1">
              <a:buClr>
                <a:srgbClr val="000000"/>
              </a:buClr>
            </a:pP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1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/>
          <a:lstStyle/>
          <a:p>
            <a:pPr lvl="0" algn="r" eaLnBrk="1" hangingPunct="1">
              <a:buClr>
                <a:srgbClr val="000000"/>
              </a:buClr>
            </a:pP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2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>
              <a:gd name="txL" fmla="*/ 0 w 120000"/>
              <a:gd name="txT" fmla="*/ 0 h 120000"/>
              <a:gd name="txR" fmla="*/ 120000 w 120000"/>
              <a:gd name="txB" fmla="*/ 120000 h 120000"/>
            </a:gdLst>
            <a:ahLst/>
            <a:cxnLst/>
            <a:rect l="txL" t="txT" r="txR" b="tx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3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/>
          <a:lstStyle/>
          <a:p>
            <a:pPr lvl="0"/>
            <a:endParaRPr lang="en-US" altLang="en-US" dirty="0"/>
          </a:p>
        </p:txBody>
      </p:sp>
      <p:sp>
        <p:nvSpPr>
          <p:cNvPr id="17414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/>
          <a:lstStyle/>
          <a:p>
            <a:pPr lvl="0" eaLnBrk="1" hangingPunct="1">
              <a:buClr>
                <a:srgbClr val="000000"/>
              </a:buClr>
            </a:pP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5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/>
          <a:lstStyle/>
          <a:p>
            <a:pPr lvl="0" algn="r" eaLnBrk="1" hangingPunct="1">
              <a:buClr>
                <a:srgbClr val="000000"/>
              </a:buClr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90204" pitchFamily="34" charset="0"/>
      <a:defRPr sz="140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90204" pitchFamily="34" charset="0"/>
      <a:defRPr sz="140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90204" pitchFamily="34" charset="0"/>
      <a:defRPr sz="140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90204" pitchFamily="34" charset="0"/>
      <a:defRPr sz="140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90204" pitchFamily="34" charset="0"/>
      <a:defRPr sz="140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91;p1:notes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4099" name="Google Shape;92;p1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00" name="Google Shape;93;p1:notes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b" anchorCtr="0"/>
          <a:lstStyle/>
          <a:p>
            <a:pPr marL="0" lvl="0" indent="0" algn="r" eaLnBrk="1" hangingPunct="1"/>
            <a:fld id="{9A0DB2DC-4C9A-4742-B13C-FB6460FD3503}" type="slidenum">
              <a:rPr lang="en-US" altLang="en-US" dirty="0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103;p2:notes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6147" name="Google Shape;104;p2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48" name="Google Shape;105;p2:notes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b" anchorCtr="0"/>
          <a:lstStyle/>
          <a:p>
            <a:pPr marL="0" lvl="0" indent="0" algn="r" eaLnBrk="1" hangingPunct="1"/>
            <a:fld id="{9A0DB2DC-4C9A-4742-B13C-FB6460FD3503}" type="slidenum">
              <a:rPr lang="en-US" altLang="en-US" dirty="0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114;p3:notes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8195" name="Google Shape;115;p3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6" name="Google Shape;116;p3:notes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b" anchorCtr="0"/>
          <a:lstStyle/>
          <a:p>
            <a:pPr marL="0" lvl="0" indent="0" algn="r" eaLnBrk="1" hangingPunct="1"/>
            <a:fld id="{9A0DB2DC-4C9A-4742-B13C-FB6460FD3503}" type="slidenum">
              <a:rPr lang="en-US" altLang="en-US" dirty="0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126;p4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43" name="Google Shape;127;p4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328394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4117979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223870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749861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791225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36;p5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37;p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295787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339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339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874073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339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940117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7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7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5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915149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2369446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562573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046798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167;p8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3" name="Google Shape;168;p8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2189228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279;p21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867" name="Google Shape;280;p21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99;p23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915" name="Google Shape;300;p23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1751591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99;p23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915" name="Google Shape;300;p23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2013515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299;p23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915" name="Google Shape;300;p23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57;p7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339" name="Google Shape;158;p7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  <p:extLst>
      <p:ext uri="{BB962C8B-B14F-4D97-AF65-F5344CB8AC3E}">
        <p14:creationId xmlns:p14="http://schemas.microsoft.com/office/powerpoint/2010/main" val="26643309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Google Shape;327;p26:notes"/>
          <p:cNvSpPr>
            <a:spLocks noGrp="1"/>
          </p:cNvSpPr>
          <p:nvPr>
            <p:ph type="body" idx="1"/>
          </p:nvPr>
        </p:nvSpPr>
        <p:spPr/>
        <p:txBody>
          <a:bodyPr vert="horz" wrap="square" lIns="91425" tIns="45700" rIns="91425" bIns="45700" anchor="t" anchorCtr="0"/>
          <a:lstStyle/>
          <a:p>
            <a:pPr marL="0" lvl="0" indent="0" eaLnBrk="1" hangingPunct="1"/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63" name="Google Shape;328;p26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6;p28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2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22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23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28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0" name="Google Shape;29;p3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Google Shape;45;p3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94" name="Google Shape;46;p3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Google Shape;51;p34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5" name="Google Shape;52;p34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8816" name="Google Shape;53;p34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17" name="Google Shape;54;p3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8818" name="Google Shape;55;p3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Google Shape;60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Google Shape;65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9" name="Google Shape;66;p3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48810" name="Google Shape;67;p3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Google Shape;79;p3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04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Google Shape;85;p39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799" name="Google Shape;86;p39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/>
          <a:p>
            <a:pPr lvl="0"/>
            <a:endParaRPr lang="en-US" altLang="en-US" dirty="0"/>
          </a:p>
        </p:txBody>
      </p:sp>
      <p:sp>
        <p:nvSpPr>
          <p:cNvPr id="1027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/>
          <a:lstStyle/>
          <a:p>
            <a:pPr lvl="0"/>
            <a:endParaRPr lang="en-US" altLang="en-US" dirty="0"/>
          </a:p>
        </p:txBody>
      </p:sp>
      <p:sp>
        <p:nvSpPr>
          <p:cNvPr id="1028" name="Google Shape;12;p27"/>
          <p:cNvSpPr txBox="1">
            <a:spLocks noGrp="1"/>
          </p:cNvSpPr>
          <p:nvPr>
            <p:ph type="dt" idx="10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/>
          <a:lstStyle>
            <a:lvl1pPr>
              <a:defRPr sz="90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</a:defRPr>
            </a:lvl1pPr>
          </a:lstStyle>
          <a:p>
            <a:pPr lvl="0" eaLnBrk="1" hangingPunct="1">
              <a:buClr>
                <a:srgbClr val="000000"/>
              </a:buClr>
            </a:pPr>
            <a:endParaRPr lang="en-US" altLang="en-US" dirty="0">
              <a:sym typeface="Calibri" panose="020F0502020204030204" pitchFamily="34" charset="0"/>
            </a:endParaRPr>
          </a:p>
        </p:txBody>
      </p:sp>
      <p:sp>
        <p:nvSpPr>
          <p:cNvPr id="1029" name="Google Shape;13;p27"/>
          <p:cNvSpPr txBox="1">
            <a:spLocks noGrp="1"/>
          </p:cNvSpPr>
          <p:nvPr>
            <p:ph type="ftr" idx="11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/>
          <a:lstStyle>
            <a:lvl1pPr algn="ctr">
              <a:defRPr sz="900">
                <a:solidFill>
                  <a:srgbClr val="888888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Clr>
                <a:srgbClr val="000000"/>
              </a:buClr>
            </a:pPr>
            <a:r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Dept of ECE 2025-26</a:t>
            </a:r>
            <a:endParaRPr lang="en-US" altLang="en-US" sz="900" dirty="0">
              <a:solidFill>
                <a:srgbClr val="888888"/>
              </a:solidFill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0" name="Google Shape;14;p27"/>
          <p:cNvSpPr txBox="1">
            <a:spLocks noGrp="1"/>
          </p:cNvSpPr>
          <p:nvPr>
            <p:ph type="sldNum" idx="12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/>
          <a:lstStyle>
            <a:lvl1pPr algn="r">
              <a:defRPr sz="900">
                <a:solidFill>
                  <a:srgbClr val="888888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Clr>
                <a:srgbClr val="000000"/>
              </a:buClr>
            </a:pPr>
            <a:fld id="{9A0DB2DC-4C9A-4742-B13C-FB6460FD3503}" type="slidenum">
              <a:rPr lang="en-US" altLang="en-US" dirty="0">
                <a:cs typeface="Calibri" panose="020F0502020204030204" pitchFamily="34" charset="0"/>
                <a:sym typeface="Calibri" panose="020F0502020204030204" pitchFamily="34" charset="0"/>
              </a:rPr>
              <a:t>‹#›</a:t>
            </a:fld>
            <a:endParaRPr lang="en-US" altLang="en-US" dirty="0">
              <a:latin typeface="Arial" panose="020B060402020209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buChar char="•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buChar char="–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buChar char="•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buChar char="–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90204" pitchFamily="34" charset="0"/>
        <a:buChar char="»"/>
        <a:defRPr sz="140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ontiersin.org/journals/plant-science/articles/10.3389/fpls.2023.1256773/full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www.frontiersin.org/journals/plant-science/articles/10.3389/fpls.2023.1276728/ful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ieeexplore.ieee.org/document/10414062" TargetMode="External"/><Relationship Id="rId5" Type="http://schemas.openxmlformats.org/officeDocument/2006/relationships/hyperlink" Target="https://ieeexplore.ieee.org/document/10146280" TargetMode="External"/><Relationship Id="rId10" Type="http://schemas.openxmlformats.org/officeDocument/2006/relationships/hyperlink" Target="https://www.nature.com/articles/s41598-024-54540-9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ieeexplore.ieee.org/document/10599267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95;p1"/>
          <p:cNvSpPr txBox="1">
            <a:spLocks noGrp="1"/>
          </p:cNvSpPr>
          <p:nvPr>
            <p:ph type="ctrTitle"/>
          </p:nvPr>
        </p:nvSpPr>
        <p:spPr>
          <a:xfrm>
            <a:off x="1037432" y="625881"/>
            <a:ext cx="7010400" cy="3172402"/>
          </a:xfrm>
        </p:spPr>
        <p:txBody>
          <a:bodyPr spcFirstLastPara="1" vert="horz" wrap="square" lIns="91425" tIns="45700" rIns="91425" bIns="45700" numCol="1" anchor="b" anchorCtr="0" compatLnSpc="1"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</a:pPr>
            <a:r>
              <a:rPr sz="2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AMC ENGINEERING COLLEGE,BENGALURU-83</a:t>
            </a:r>
            <a:br>
              <a:rPr sz="41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(Approved by , Permanently Affiliated to</a:t>
            </a: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VTU, Belagavi, Accredited by NAAC &amp; NBA)</a:t>
            </a: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DEPARTMENT OF ARTIFICIAL INTELLIGENCE &amp; MACHINE LEARNING</a:t>
            </a: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MAJOR PROJECT </a:t>
            </a:r>
            <a:r>
              <a:rPr lang="en-US"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PHASE II </a:t>
            </a:r>
            <a: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ON</a:t>
            </a: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br>
              <a:rPr sz="1800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lang="en-GB" sz="20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Florabot</a:t>
            </a:r>
            <a:r>
              <a:rPr lang="en-GB" sz="20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: AI-IoT based plant health monitoring system</a:t>
            </a:r>
            <a:br>
              <a:rPr sz="24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endParaRPr lang="zh-CN" altLang="x-none" sz="2400" b="1" dirty="0">
              <a:latin typeface="Times New Roman" panose="02020503050405090304" pitchFamily="18" charset="0"/>
              <a:ea typeface="Times New Roman" panose="02020503050405090304" pitchFamily="18" charset="0"/>
              <a:cs typeface="Arial" panose="020B0604020202090204"/>
              <a:sym typeface="Times New Roman" panose="02020503050405090304" pitchFamily="18" charset="0"/>
            </a:endParaRPr>
          </a:p>
        </p:txBody>
      </p:sp>
      <p:sp>
        <p:nvSpPr>
          <p:cNvPr id="3075" name="Google Shape;96;p1"/>
          <p:cNvSpPr>
            <a:spLocks noGrp="1"/>
          </p:cNvSpPr>
          <p:nvPr>
            <p:ph type="subTitle" idx="1"/>
          </p:nvPr>
        </p:nvSpPr>
        <p:spPr>
          <a:xfrm>
            <a:off x="669925" y="4110326"/>
            <a:ext cx="3279775" cy="1673225"/>
          </a:xfrm>
        </p:spPr>
        <p:txBody>
          <a:bodyPr vert="horz" wrap="square" lIns="91425" tIns="45700" rIns="91425" bIns="45700" anchor="t" anchorCtr="0"/>
          <a:lstStyle/>
          <a:p>
            <a:pPr marL="0" indent="0"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503050405090304" pitchFamily="18" charset="0"/>
              </a:rPr>
              <a:t>GUIDED BY: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 pitchFamily="34" charset="0"/>
            </a:endParaRPr>
          </a:p>
          <a:p>
            <a:pPr marL="0" indent="0" algn="l" eaLnBrk="1" hangingPunct="1">
              <a:spcAft>
                <a:spcPct val="0"/>
              </a:spcAft>
              <a:buClr>
                <a:srgbClr val="000000"/>
              </a:buClr>
              <a:buSzTx/>
            </a:pPr>
            <a:r>
              <a:rPr lang="en-US" altLang="en-US" sz="20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DR DEEPA</a:t>
            </a:r>
          </a:p>
          <a:p>
            <a:pPr marL="0" indent="0" algn="l" eaLnBrk="1" hangingPunct="1">
              <a:spcAft>
                <a:spcPct val="0"/>
              </a:spcAft>
              <a:buClr>
                <a:srgbClr val="000000"/>
              </a:buClr>
              <a:buSzTx/>
            </a:pPr>
            <a:r>
              <a:rPr lang="en-US" altLang="en-US" sz="2000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(Assistant prof AIML)                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  <a:p>
            <a:pPr marL="0" indent="0" algn="l" eaLnBrk="1" hangingPunct="1">
              <a:spcAft>
                <a:spcPct val="0"/>
              </a:spcAft>
              <a:buClr>
                <a:srgbClr val="000000"/>
              </a:buClr>
              <a:buSzTx/>
            </a:pPr>
            <a:r>
              <a:rPr lang="en-US" altLang="en-US" sz="2000" b="1" dirty="0">
                <a:latin typeface="Times New Roman" panose="02020503050405090304" pitchFamily="18" charset="0"/>
                <a:ea typeface="Arial" panose="020B0604020202090204"/>
                <a:cs typeface="Times New Roman" panose="02020503050405090304" pitchFamily="18" charset="0"/>
                <a:sym typeface="Times New Roman" panose="02020503050405090304" pitchFamily="18" charset="0"/>
              </a:rPr>
              <a:t>                           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90204"/>
              <a:sym typeface="Calibri" panose="020F0502020204030204" pitchFamily="34" charset="0"/>
            </a:endParaRPr>
          </a:p>
        </p:txBody>
      </p:sp>
      <p:pic>
        <p:nvPicPr>
          <p:cNvPr id="3076" name="Google Shape;97;p1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42386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Google Shape;98;p1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423863"/>
            <a:ext cx="1050925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8" name="Google Shape;99;p1"/>
          <p:cNvSpPr txBox="1"/>
          <p:nvPr/>
        </p:nvSpPr>
        <p:spPr>
          <a:xfrm>
            <a:off x="3689060" y="4082067"/>
            <a:ext cx="5162551" cy="1846619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503050405090304" pitchFamily="18" charset="0"/>
              </a:rPr>
              <a:t>   GROUP MEMBERS</a:t>
            </a:r>
          </a:p>
          <a:p>
            <a:pPr marL="0" lvl="0" indent="0" algn="ctr" eaLnBrk="1" hangingPunct="1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eaLnBrk="1" hangingPunct="1">
              <a:buNone/>
            </a:pPr>
            <a:r>
              <a:rPr lang="en-US" altLang="en-US" sz="20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1AM23AI018 : FARHAN AHMED</a:t>
            </a:r>
          </a:p>
          <a:p>
            <a:pPr marL="0" lvl="0" indent="0" algn="just" eaLnBrk="1" hangingPunct="1">
              <a:buNone/>
            </a:pPr>
            <a:r>
              <a:rPr lang="en-US" altLang="en-US" sz="20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         1AM23AI032 : LIBA SHASMEEN</a:t>
            </a:r>
          </a:p>
          <a:p>
            <a:pPr marL="0" lvl="0" indent="0" algn="just" eaLnBrk="1" hangingPunct="1">
              <a:buNone/>
            </a:pPr>
            <a:r>
              <a:rPr lang="en-US" altLang="en-US" sz="2000" b="1" dirty="0"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         1AM23AI030 : KHUSHI RAY   </a:t>
            </a:r>
          </a:p>
          <a:p>
            <a:pPr marL="0" lvl="0" indent="0" algn="just" eaLnBrk="1" hangingPunct="1">
              <a:buNone/>
            </a:pPr>
            <a:r>
              <a:rPr lang="en-US" altLang="en-US" sz="2000" b="1" dirty="0">
                <a:latin typeface="Times New Roman" panose="02020503050405090304" pitchFamily="18" charset="0"/>
                <a:ea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         1AM23AI054 : SHIVANI KUMARI</a:t>
            </a:r>
            <a:endParaRPr lang="en-US" altLang="en-US" sz="2000" b="1" dirty="0">
              <a:latin typeface="Times New Roman" panose="02020603050405020304" pitchFamily="18" charset="0"/>
              <a:ea typeface="Times New Roman" panose="02020503050405090304" pitchFamily="18" charset="0"/>
              <a:cs typeface="Times New Roman" panose="0202060305040502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3079" name="Google Shape;100;p1"/>
          <p:cNvSpPr txBox="1">
            <a:spLocks noGrp="1"/>
          </p:cNvSpPr>
          <p:nvPr>
            <p:ph type="ftr" idx="11"/>
          </p:nvPr>
        </p:nvSpPr>
        <p:spPr/>
        <p:txBody>
          <a:bodyPr lIns="91425" tIns="45700" rIns="91425" bIns="45700" anchor="ctr" anchorCtr="0"/>
          <a:lstStyle/>
          <a:p>
            <a:pPr mar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0" name="Google Shape;101;p1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07;p2"/>
          <p:cNvSpPr>
            <a:spLocks noGrp="1"/>
          </p:cNvSpPr>
          <p:nvPr>
            <p:ph type="title"/>
          </p:nvPr>
        </p:nvSpPr>
        <p:spPr>
          <a:xfrm>
            <a:off x="3165475" y="312738"/>
            <a:ext cx="8229600" cy="1143000"/>
          </a:xfrm>
        </p:spPr>
        <p:txBody>
          <a:bodyPr vert="horz" wrap="square" lIns="91425" tIns="45700" rIns="91425" bIns="45700" anchor="t" anchorCtr="0"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CONTENT</a:t>
            </a:r>
            <a:b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endParaRPr lang="en-US" altLang="en-US" sz="36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1048660" name="Google Shape;108;p2"/>
          <p:cNvSpPr txBox="1">
            <a:spLocks noGrp="1"/>
          </p:cNvSpPr>
          <p:nvPr>
            <p:ph type="body" idx="1"/>
          </p:nvPr>
        </p:nvSpPr>
        <p:spPr>
          <a:xfrm>
            <a:off x="542782" y="1604746"/>
            <a:ext cx="6373813" cy="4638675"/>
          </a:xfrm>
        </p:spPr>
        <p:txBody>
          <a:bodyPr spcFirstLastPara="1" vert="horz" wrap="square" lIns="91425" tIns="45700" rIns="91425" bIns="45700" numCol="1" anchor="t" anchorCtr="0" compatLnSpc="1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ABSTRACT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INTRODUCTION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PROBLEM STATEMENT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LITERATURE PAPER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ARCHITECTURE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HARDWARE / SOFTWARE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DATASET DETAILS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  <a:defRPr/>
            </a:pPr>
            <a:r>
              <a:rPr lang="en-US" sz="200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AutoNum type="arabicPeriod" startAt="9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CONCLUSION</a:t>
            </a:r>
            <a:endParaRPr lang="en-US" sz="2000" dirty="0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10.  GANTT CHART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11.  SDG’s</a:t>
            </a:r>
          </a:p>
          <a:p>
            <a:pPr marL="0" indent="0" eaLnBrk="1" fontAlgn="auto" hangingPunct="1">
              <a:buSzPct val="100000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12.  REFERENCES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 Math" panose="02040503050406030204"/>
              <a:ea typeface="Cambria Math" panose="02040503050406030204"/>
              <a:cs typeface="Cambria Math" panose="02040503050406030204"/>
              <a:sym typeface="Cambria Math" panose="020405030504060302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 Math" panose="02040503050406030204"/>
              <a:ea typeface="Cambria Math" panose="02040503050406030204"/>
              <a:cs typeface="Cambria Math" panose="02040503050406030204"/>
              <a:sym typeface="Cambria Math" panose="020405030504060302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 Math" panose="02040503050406030204"/>
              <a:ea typeface="Cambria Math" panose="02040503050406030204"/>
              <a:cs typeface="Cambria Math" panose="02040503050406030204"/>
              <a:sym typeface="Cambria Math" panose="02040503050406030204"/>
            </a:endParaRPr>
          </a:p>
          <a:p>
            <a:pPr marL="457200" marR="0" lvl="0" indent="-31623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 Math" panose="02040503050406030204"/>
              <a:ea typeface="Cambria Math" panose="02040503050406030204"/>
              <a:cs typeface="Cambria Math" panose="02040503050406030204"/>
              <a:sym typeface="Cambria Math" panose="02040503050406030204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mbria Math" panose="02040503050406030204"/>
              <a:ea typeface="Cambria Math" panose="02040503050406030204"/>
              <a:cs typeface="Cambria Math" panose="02040503050406030204"/>
              <a:sym typeface="Cambria Math" panose="02040503050406030204"/>
            </a:endParaRPr>
          </a:p>
        </p:txBody>
      </p:sp>
      <p:pic>
        <p:nvPicPr>
          <p:cNvPr id="5124" name="Google Shape;109;p2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187325"/>
            <a:ext cx="1050925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Google Shape;110;p2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63" y="187325"/>
            <a:ext cx="981075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Google Shape;112;p2"/>
          <p:cNvSpPr txBox="1">
            <a:spLocks noGrp="1"/>
          </p:cNvSpPr>
          <p:nvPr>
            <p:ph type="sldNum" idx="12"/>
          </p:nvPr>
        </p:nvSpPr>
        <p:spPr>
          <a:xfrm>
            <a:off x="6715125" y="6373813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7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118;p3"/>
          <p:cNvSpPr txBox="1">
            <a:spLocks noGrp="1"/>
          </p:cNvSpPr>
          <p:nvPr>
            <p:ph type="title"/>
          </p:nvPr>
        </p:nvSpPr>
        <p:spPr>
          <a:xfrm>
            <a:off x="1506538" y="365125"/>
            <a:ext cx="5649913" cy="719138"/>
          </a:xfrm>
        </p:spPr>
        <p:txBody>
          <a:bodyPr spcFirstLastPara="1" vert="horz" wrap="square" lIns="91425" tIns="45700" rIns="91425" bIns="45700" numCol="1" anchor="t" anchorCtr="0" compatLnSpc="1">
            <a:no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ABSTRACT</a:t>
            </a:r>
            <a:b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</a:br>
            <a:endParaRPr lang="en-US" altLang="en-US" sz="32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7171" name="Google Shape;120;p3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7172" name="Google Shape;121;p3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187325"/>
            <a:ext cx="1050925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Google Shape;122;p3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63" y="187325"/>
            <a:ext cx="981075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F1BB0D-4678-41A1-A4F6-FCEF9263AA46}"/>
              </a:ext>
            </a:extLst>
          </p:cNvPr>
          <p:cNvSpPr txBox="1"/>
          <p:nvPr/>
        </p:nvSpPr>
        <p:spPr>
          <a:xfrm>
            <a:off x="467952" y="1720840"/>
            <a:ext cx="82080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presents an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plant-monitoring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smart-irrigation rover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environments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offices and hospitals. The system integrates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components , a camera module, deep learning , and autonomous navigation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continuous plant care with minimal human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intervention.The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 camera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images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disease detection model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plant health. Moving via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paths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rover activates targeted irrigation when necessary and transmits real-time alerts to a remote dashboard. By combining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robotics, smart irrigation, and AI into a single platform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solution overcomes the limitations of stationary monitoring systems to reduce water waste, minimize manual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ensure early disease detection for indoor plants.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129;p4"/>
          <p:cNvSpPr>
            <a:spLocks noGrp="1"/>
          </p:cNvSpPr>
          <p:nvPr>
            <p:ph type="title"/>
          </p:nvPr>
        </p:nvSpPr>
        <p:spPr>
          <a:xfrm>
            <a:off x="1446213" y="365125"/>
            <a:ext cx="6132512" cy="900113"/>
          </a:xfrm>
        </p:spPr>
        <p:txBody>
          <a:bodyPr vert="horz" wrap="square" lIns="91425" tIns="45700" rIns="91425" bIns="45700" anchor="ctr" anchorCtr="0"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300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              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INTRODUCTION</a:t>
            </a:r>
            <a:endParaRPr lang="en-US" altLang="en-US" sz="32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9219" name="Google Shape;132;p4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4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9220" name="Google Shape;133;p4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3" y="30321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Google Shape;134;p4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38" y="303213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41D69A-691C-4156-8EC8-50787D50AF48}"/>
              </a:ext>
            </a:extLst>
          </p:cNvPr>
          <p:cNvSpPr txBox="1"/>
          <p:nvPr/>
        </p:nvSpPr>
        <p:spPr>
          <a:xfrm>
            <a:off x="303213" y="1905506"/>
            <a:ext cx="84420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Plants in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offices, hospitals, and indoor environments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regular monitoring and watering to maintain their health. The proposed system uses an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rover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and care for multiple plants . A camera captures plant images for health assessment and disease detection using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Based on image data, the system predicts whether a plant requires irrigation or further attention. The rover uses line-following or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through Bluetooth to move between predefined plant locations. An automatic irrigation mechanism waters plants whenever required, and the system provides plant-status information and alerts to users, enabling efficient and intelligent plant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365125"/>
            <a:ext cx="6132512" cy="779463"/>
          </a:xfrm>
        </p:spPr>
        <p:txBody>
          <a:bodyPr vert="horz" wrap="square" lIns="91425" tIns="45700" rIns="91425" bIns="45700" anchor="ctr" anchorCtr="0">
            <a:normAutofit fontScale="90000"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          </a:t>
            </a:r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PROBLEM STATEMENT</a:t>
            </a:r>
            <a:endParaRPr lang="en-US" altLang="en-US" sz="36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5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3" y="30321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38" y="303213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9F229-8B6C-4F58-992C-788F6D9EFAF0}"/>
              </a:ext>
            </a:extLst>
          </p:cNvPr>
          <p:cNvSpPr txBox="1"/>
          <p:nvPr/>
        </p:nvSpPr>
        <p:spPr>
          <a:xfrm>
            <a:off x="303213" y="1374462"/>
            <a:ext cx="855503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and watering of indoor plants is time-consuming and can lead to underwatering, overwatering, and delayed disease detection . There is a need for an autonomous system that can monitor plant conditions, detect diseases, navigate between plants, and provide irrigation when required.</a:t>
            </a:r>
          </a:p>
          <a:p>
            <a:pPr algn="just"/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autonomous rover for monitoring and maintaining indoor plants.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 a deep-learning mechanism for detecting plant health and diseases.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automatic navigation and smart irrigation based on the plant’s requirements.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360°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5DB1B4-0A0A-4D15-8AE8-3B2A77EBA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399" y="3800998"/>
            <a:ext cx="3771841" cy="1546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157015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SURVEY-1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6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25092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499" y="-5620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360°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1BE98-2008-4F84-9B0C-6EA11A3C7D84}"/>
              </a:ext>
            </a:extLst>
          </p:cNvPr>
          <p:cNvSpPr txBox="1"/>
          <p:nvPr/>
        </p:nvSpPr>
        <p:spPr>
          <a:xfrm>
            <a:off x="238125" y="1059545"/>
            <a:ext cx="91440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Robot for Detecting Environmental Conditions in a Greenhouse ,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n-GB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Rosero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-Montalvo et al., IEEE Access, 2023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robot for greenhouse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temperature, humidity, CO₂ and light data</a:t>
            </a:r>
            <a:r>
              <a:rPr lang="en-GB" sz="1600" dirty="0"/>
              <a:t>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PID-based movement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+ Raspberry Pi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zones as Optimal, Standard and Deficient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90% agreement with farmer assessment  and around 5% sensor error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image-based plant disease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only in greenhouses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navigation routes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autonomous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suggest computer vision and automatic water-pump control as future work. </a:t>
            </a:r>
          </a:p>
          <a:p>
            <a:pPr algn="just"/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5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70025" y="204787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SURVEY-2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7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4451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38" y="44451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360°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F9879-9BCB-4831-AE2C-B5E6C885814B}"/>
              </a:ext>
            </a:extLst>
          </p:cNvPr>
          <p:cNvSpPr txBox="1"/>
          <p:nvPr/>
        </p:nvSpPr>
        <p:spPr>
          <a:xfrm>
            <a:off x="235238" y="1119402"/>
            <a:ext cx="867352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Plant Disease Dataset Development and Detection of Plant Disease Using Deep Learning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</a:p>
          <a:p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en-GB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S. Joseph et al., IEEE Access, 2024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plant leaf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disease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for real-time disease detection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augmentation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MRW-CNN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 achieved &gt;90%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MRW-CNN achieved &gt;95% accuracy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agricultural crops, not indoor plants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variations and multiple diseases on one leaf need further study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using CNN + real-world leaf images for plant disease detection</a:t>
            </a:r>
            <a:r>
              <a:rPr lang="en-GB" sz="1600" dirty="0"/>
              <a:t>.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31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136525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SURVEY-3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808932" y="6538911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8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" y="7483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4" y="13752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969419" y="6538912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2902"/>
            <a:ext cx="91372" cy="62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°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DDAB00-1ACB-4EF6-A295-61855C17E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97" y="1148614"/>
            <a:ext cx="8610744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MS-Net: A Novel Lightweight and Precise Model for Plant Disease Identification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Authors of MS-Net, Frontiers in Plant Science, 2023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plant-disease identification.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healthy and diseased leaves.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deployment on devices with limited computing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MobileNetV3-based CNN with skip connections.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Whale Optimization Algorithm (WOA).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loss function and plant-classification pretraining.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99.8% accuracy 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97.8% accuracy on an apple-leaf dataset with complex outdoor backgrounds.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model complexity compared with several existing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on specific datasets and crop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implement an autonomous agricultural rover.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perform irrigation or automated treatment.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lightweight CNN-based plant-disease detection.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techniques for improving model efficiency on Raspberry Pi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google.com/s2/favicons?domain=https://www.frontiersin.org&amp;sz=32">
            <a:extLst>
              <a:ext uri="{FF2B5EF4-FFF2-40B4-BE49-F238E27FC236}">
                <a16:creationId xmlns:a16="http://schemas.microsoft.com/office/drawing/2014/main" id="{8E9C5D99-4030-49DA-A14C-459BB71CE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819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26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136525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SURVEY-4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808932" y="6538911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9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" y="7483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4" y="13752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969419" y="6538912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2902"/>
            <a:ext cx="91372" cy="62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°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google.com/s2/favicons?domain=https://www.frontiersin.org&amp;sz=32">
            <a:extLst>
              <a:ext uri="{FF2B5EF4-FFF2-40B4-BE49-F238E27FC236}">
                <a16:creationId xmlns:a16="http://schemas.microsoft.com/office/drawing/2014/main" id="{8E9C5D99-4030-49DA-A14C-459BB71CE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819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3A82170-C6C0-4A5D-B475-9225252A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108720"/>
            <a:ext cx="9552709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PMVT: A Lightweight Vision Transformer for Plant Disease Identification on Mobile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Guoqiang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Yuchao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Wang, Qing Zhao,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Peiyan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Yuan and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Baofang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Chang, Frontiers in Plant Science, 2023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classification on mobile and resource-constrained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Recognition of diseases across multiple crop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Plant-based Mobile Vision Transformer (PMVT).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Block Attention Module (CBAM).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MobileViT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93.6% ,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85.4% , 93.1%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on wheat , coffee, rice disease images.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mobile application for plant-disease identification.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implement an autonomous rover.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disease identification rather than automated treatment.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Flora-Bot's specific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combination would need separate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alternative to MobileNetV2 for disease classification.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useful comparison for selecting a lightweight model for Raspberry Pi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s://www.google.com/s2/favicons?domain=https://www.frontiersin.org&amp;sz=32">
            <a:extLst>
              <a:ext uri="{FF2B5EF4-FFF2-40B4-BE49-F238E27FC236}">
                <a16:creationId xmlns:a16="http://schemas.microsoft.com/office/drawing/2014/main" id="{1AA6B5D0-AD39-416A-8BD4-8C37AE0F9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2305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480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136525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SURVEY-5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808932" y="6538911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10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" y="7483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4" y="13752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969419" y="6538912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360°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CC35A-8F83-47DF-8D99-8A409ABA5FB6}"/>
              </a:ext>
            </a:extLst>
          </p:cNvPr>
          <p:cNvSpPr txBox="1"/>
          <p:nvPr/>
        </p:nvSpPr>
        <p:spPr>
          <a:xfrm>
            <a:off x="255588" y="1067274"/>
            <a:ext cx="8489805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Plant Disease Classification Using Deep Learning &amp; Explainable AI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Nigar</a:t>
            </a:r>
            <a:r>
              <a:rPr lang="en-GB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IEEE Access, 2024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plant disease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to understand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Mobile-based disease detection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Transfer Learning &amp; LIME for explainable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EfficientNetV2L, MobileNetV2, ResNet152V2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for mobile deployment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EfficientNetV2L achieved 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99.63%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 explains individual model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through a mobile application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autonomous rover or irrigation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uses existing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realistic environmental conditions </a:t>
            </a:r>
          </a:p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high-accuracy CNN disease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can help explain why a leaf is classified as diseased. 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26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39;p5"/>
          <p:cNvSpPr>
            <a:spLocks noGrp="1"/>
          </p:cNvSpPr>
          <p:nvPr>
            <p:ph type="title"/>
          </p:nvPr>
        </p:nvSpPr>
        <p:spPr>
          <a:xfrm>
            <a:off x="1446213" y="136525"/>
            <a:ext cx="6132512" cy="779463"/>
          </a:xfrm>
        </p:spPr>
        <p:txBody>
          <a:bodyPr vert="horz" wrap="square" lIns="91425" tIns="45700" rIns="91425" bIns="45700" anchor="ctr" anchorCtr="0">
            <a:normAutofit/>
          </a:bodyPr>
          <a:lstStyle/>
          <a:p>
            <a:pPr marL="0" lvl="0" indent="0" algn="ctr" eaLnBrk="1" hangingPunct="1"/>
            <a:r>
              <a:rPr lang="en-US" altLang="en-US" sz="36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SURVEY-6 </a:t>
            </a:r>
          </a:p>
        </p:txBody>
      </p:sp>
      <p:sp>
        <p:nvSpPr>
          <p:cNvPr id="11267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808932" y="6538911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11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1268" name="Google Shape;143;p5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" y="7483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Google Shape;144;p5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4" y="13752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Google Shape;100;p1"/>
          <p:cNvSpPr txBox="1"/>
          <p:nvPr/>
        </p:nvSpPr>
        <p:spPr>
          <a:xfrm>
            <a:off x="2969419" y="6538912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425E80-AA3B-404F-BF07-21ED5ACB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2902"/>
            <a:ext cx="91372" cy="62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°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google.com/s2/favicons?domain=https://www.frontiersin.org&amp;sz=32">
            <a:extLst>
              <a:ext uri="{FF2B5EF4-FFF2-40B4-BE49-F238E27FC236}">
                <a16:creationId xmlns:a16="http://schemas.microsoft.com/office/drawing/2014/main" id="{8E9C5D99-4030-49DA-A14C-459BB71CE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819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3A82170-C6C0-4A5D-B475-9225252A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3817154"/>
            <a:ext cx="95527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s://www.google.com/s2/favicons?domain=https://www.frontiersin.org&amp;sz=32">
            <a:extLst>
              <a:ext uri="{FF2B5EF4-FFF2-40B4-BE49-F238E27FC236}">
                <a16:creationId xmlns:a16="http://schemas.microsoft.com/office/drawing/2014/main" id="{1AA6B5D0-AD39-416A-8BD4-8C37AE0F9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2305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E69EA7-158B-4083-A6E1-144AB661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1117340"/>
            <a:ext cx="893668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Vegetable Disease Detection Using an Improved YOLOv8 Algorithm in the Greenhouse Plant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Xuewei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Wang and Jun Liu, Scientific Reports,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vegetable diseases in greenhouse environments and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diseased regions in plant images.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crop monitoring under complex backgrounds.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YOLOv8n object-detection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C2fGhost module to reduce computational complexity.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GhostConv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disease detection performance compared with the original YOLOv8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model parameters through lightweight network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vegetable disease detection in greenhouse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disease detection rather than autonomous plant treatment.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Greenhouse evaluation does not guarantee performance in every outdoor environment.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separate testing for deployment on Raspberry Pi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Flora-Bot: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 relates to greenhouse crop monitoring and automated disease detection.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inform future experiments with real-time plant monitoring on Flora-Bot.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s://www.google.com/s2/favicons?domain=https://www.nature.com&amp;sz=32">
            <a:extLst>
              <a:ext uri="{FF2B5EF4-FFF2-40B4-BE49-F238E27FC236}">
                <a16:creationId xmlns:a16="http://schemas.microsoft.com/office/drawing/2014/main" id="{6A4DCCD7-6BEF-492C-AEF7-F4DE0328C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30940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888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638" y="0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46615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6476423" y="6559117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12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7" name="Google Shape;165;p7"/>
          <p:cNvSpPr txBox="1"/>
          <p:nvPr/>
        </p:nvSpPr>
        <p:spPr>
          <a:xfrm>
            <a:off x="1304925" y="46615"/>
            <a:ext cx="6011862" cy="156962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 </a:t>
            </a:r>
          </a:p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COMPARISON TABLE</a:t>
            </a:r>
          </a:p>
          <a:p>
            <a:pPr marL="0" lvl="0" indent="0" algn="ctr" eaLnBrk="1" hangingPunct="1">
              <a:buNone/>
            </a:pPr>
            <a:endParaRPr lang="en-US" altLang="en-US" dirty="0"/>
          </a:p>
          <a:p>
            <a:pPr marL="0" lvl="0" indent="0" algn="ctr" eaLnBrk="1" hangingPunct="1"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8" name="Google Shape;100;p1"/>
          <p:cNvSpPr txBox="1"/>
          <p:nvPr/>
        </p:nvSpPr>
        <p:spPr>
          <a:xfrm>
            <a:off x="2833111" y="6559117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DE299BC-CF00-4E96-A2BA-0E811A1A2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36734"/>
              </p:ext>
            </p:extLst>
          </p:nvPr>
        </p:nvGraphicFramePr>
        <p:xfrm>
          <a:off x="147783" y="1397000"/>
          <a:ext cx="8866907" cy="396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4362">
                  <a:extLst>
                    <a:ext uri="{9D8B030D-6E8A-4147-A177-3AD203B41FA5}">
                      <a16:colId xmlns:a16="http://schemas.microsoft.com/office/drawing/2014/main" val="791114414"/>
                    </a:ext>
                  </a:extLst>
                </a:gridCol>
                <a:gridCol w="1754837">
                  <a:extLst>
                    <a:ext uri="{9D8B030D-6E8A-4147-A177-3AD203B41FA5}">
                      <a16:colId xmlns:a16="http://schemas.microsoft.com/office/drawing/2014/main" val="3415126559"/>
                    </a:ext>
                  </a:extLst>
                </a:gridCol>
                <a:gridCol w="1690254">
                  <a:extLst>
                    <a:ext uri="{9D8B030D-6E8A-4147-A177-3AD203B41FA5}">
                      <a16:colId xmlns:a16="http://schemas.microsoft.com/office/drawing/2014/main" val="3298632466"/>
                    </a:ext>
                  </a:extLst>
                </a:gridCol>
                <a:gridCol w="1644073">
                  <a:extLst>
                    <a:ext uri="{9D8B030D-6E8A-4147-A177-3AD203B41FA5}">
                      <a16:colId xmlns:a16="http://schemas.microsoft.com/office/drawing/2014/main" val="3324601909"/>
                    </a:ext>
                  </a:extLst>
                </a:gridCol>
                <a:gridCol w="1773381">
                  <a:extLst>
                    <a:ext uri="{9D8B030D-6E8A-4147-A177-3AD203B41FA5}">
                      <a16:colId xmlns:a16="http://schemas.microsoft.com/office/drawing/2014/main" val="3330053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What it solves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Key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27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Farming Robot for Detecting Environmental Conditions in a Greenhouse:</a:t>
                      </a:r>
                    </a:p>
                    <a:p>
                      <a:pPr algn="l"/>
                      <a:r>
                        <a:rPr lang="en-GB" sz="1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Rosero</a:t>
                      </a:r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-Montalvo et al., IEEE Access,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 clustering, PID-based movement,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communication, ultrasonic sensors, Raspberry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greenhouse environmental conditions and classifies zones based on plant-growth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 90% agreement with farmer assessment; approximately 5% sensor error; supports automated environmental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plant-disease detection; tested only in greenhouses; depends on predefined routes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1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Plant Disease Dataset Development and Detection of Plant Disease Using Deep Learning:</a:t>
                      </a:r>
                    </a:p>
                    <a:p>
                      <a:pPr algn="l"/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S. Joseph et al., IEEE Access,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</a:t>
                      </a:r>
                      <a:r>
                        <a:rPr lang="en-GB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data augmentation, transfer learning, CNN, pretrained models, MRW-CNN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plant diseases from real-world leaf images captured under different backgrounds, lighting and disease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MRW-CNN achieved over 97% accuracy across maize, rice and wheat test datasets; supports real-world disease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agricultural crops; environmental variation and multiple diseases on one leaf require further investigation.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621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638" y="0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46615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6476423" y="6559117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13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7" name="Google Shape;165;p7"/>
          <p:cNvSpPr txBox="1"/>
          <p:nvPr/>
        </p:nvSpPr>
        <p:spPr>
          <a:xfrm>
            <a:off x="1304925" y="46615"/>
            <a:ext cx="6011862" cy="156962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 </a:t>
            </a:r>
          </a:p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COMPARISON TABLE</a:t>
            </a:r>
          </a:p>
          <a:p>
            <a:pPr marL="0" lvl="0" indent="0" algn="ctr" eaLnBrk="1" hangingPunct="1">
              <a:buNone/>
            </a:pPr>
            <a:endParaRPr lang="en-US" altLang="en-US" dirty="0"/>
          </a:p>
          <a:p>
            <a:pPr marL="0" lvl="0" indent="0" algn="ctr" eaLnBrk="1" hangingPunct="1"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8" name="Google Shape;100;p1"/>
          <p:cNvSpPr txBox="1"/>
          <p:nvPr/>
        </p:nvSpPr>
        <p:spPr>
          <a:xfrm>
            <a:off x="2833111" y="6559117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DE299BC-CF00-4E96-A2BA-0E811A1A2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789918"/>
              </p:ext>
            </p:extLst>
          </p:nvPr>
        </p:nvGraphicFramePr>
        <p:xfrm>
          <a:off x="323850" y="1397000"/>
          <a:ext cx="8496300" cy="460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6550">
                  <a:extLst>
                    <a:ext uri="{9D8B030D-6E8A-4147-A177-3AD203B41FA5}">
                      <a16:colId xmlns:a16="http://schemas.microsoft.com/office/drawing/2014/main" val="791114414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3415126559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3298632466"/>
                    </a:ext>
                  </a:extLst>
                </a:gridCol>
                <a:gridCol w="1579534">
                  <a:extLst>
                    <a:ext uri="{9D8B030D-6E8A-4147-A177-3AD203B41FA5}">
                      <a16:colId xmlns:a16="http://schemas.microsoft.com/office/drawing/2014/main" val="3324601909"/>
                    </a:ext>
                  </a:extLst>
                </a:gridCol>
                <a:gridCol w="1818986">
                  <a:extLst>
                    <a:ext uri="{9D8B030D-6E8A-4147-A177-3AD203B41FA5}">
                      <a16:colId xmlns:a16="http://schemas.microsoft.com/office/drawing/2014/main" val="3330053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Technique Used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What it solves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Advantages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Key Limitations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27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MS-Net: A Novel Lightweight and Precise Model for Plant Disease Identification : </a:t>
                      </a:r>
                      <a:r>
                        <a:rPr lang="en-GB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Plant Science,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MobileNetV3, skip connections, Whale Optimization Algorithm, bias loss function, transfer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plant-disease classification while reducing model complexity for resource-constrained devices.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99.8% accuracy on </a:t>
                      </a:r>
                      <a:r>
                        <a:rPr lang="en-GB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PlantVillage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97.8% on a complex-background apple-leaf dataset; designed for efficient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specific datasets and crops; no rover integration; Raspberry Pi performance requires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1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PMVT: A Lightweight Vision Transformer for Plant Disease Identification on Mobile Devices:</a:t>
                      </a:r>
                    </a:p>
                    <a:p>
                      <a:r>
                        <a:rPr lang="en-GB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al., Frontiers in Plant Science,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MobileViT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PMVT, CBAM attention, inverted residual structures, feature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diseases across crop types using a lightweight vision-transformer architecture suitable for mobile devices.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93.6% accuracy on wheat, 85.4% on coffee and 93.1% on rice datasets; offers an alternative to conventional CNNs.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varies by crop; inference speed on Raspberry Pi needs evaluation; no autonomous navigation or treatment.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62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822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638" y="0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46615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6476423" y="6559117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14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7" name="Google Shape;165;p7"/>
          <p:cNvSpPr txBox="1"/>
          <p:nvPr/>
        </p:nvSpPr>
        <p:spPr>
          <a:xfrm>
            <a:off x="1304925" y="46615"/>
            <a:ext cx="6011862" cy="156962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LITERATURE SURVEY </a:t>
            </a:r>
          </a:p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COMPARISON TABLE</a:t>
            </a:r>
          </a:p>
          <a:p>
            <a:pPr marL="0" lvl="0" indent="0" algn="ctr" eaLnBrk="1" hangingPunct="1">
              <a:buNone/>
            </a:pPr>
            <a:endParaRPr lang="en-US" altLang="en-US" dirty="0"/>
          </a:p>
          <a:p>
            <a:pPr marL="0" lvl="0" indent="0" algn="ctr" eaLnBrk="1" hangingPunct="1"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8" name="Google Shape;100;p1"/>
          <p:cNvSpPr txBox="1"/>
          <p:nvPr/>
        </p:nvSpPr>
        <p:spPr>
          <a:xfrm>
            <a:off x="2833111" y="6559117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DE299BC-CF00-4E96-A2BA-0E811A1A2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18325"/>
              </p:ext>
            </p:extLst>
          </p:nvPr>
        </p:nvGraphicFramePr>
        <p:xfrm>
          <a:off x="323850" y="1397000"/>
          <a:ext cx="849630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6768">
                  <a:extLst>
                    <a:ext uri="{9D8B030D-6E8A-4147-A177-3AD203B41FA5}">
                      <a16:colId xmlns:a16="http://schemas.microsoft.com/office/drawing/2014/main" val="791114414"/>
                    </a:ext>
                  </a:extLst>
                </a:gridCol>
                <a:gridCol w="1634837">
                  <a:extLst>
                    <a:ext uri="{9D8B030D-6E8A-4147-A177-3AD203B41FA5}">
                      <a16:colId xmlns:a16="http://schemas.microsoft.com/office/drawing/2014/main" val="3415126559"/>
                    </a:ext>
                  </a:extLst>
                </a:gridCol>
                <a:gridCol w="1496175">
                  <a:extLst>
                    <a:ext uri="{9D8B030D-6E8A-4147-A177-3AD203B41FA5}">
                      <a16:colId xmlns:a16="http://schemas.microsoft.com/office/drawing/2014/main" val="3298632466"/>
                    </a:ext>
                  </a:extLst>
                </a:gridCol>
                <a:gridCol w="1579534">
                  <a:extLst>
                    <a:ext uri="{9D8B030D-6E8A-4147-A177-3AD203B41FA5}">
                      <a16:colId xmlns:a16="http://schemas.microsoft.com/office/drawing/2014/main" val="3324601909"/>
                    </a:ext>
                  </a:extLst>
                </a:gridCol>
                <a:gridCol w="1818986">
                  <a:extLst>
                    <a:ext uri="{9D8B030D-6E8A-4147-A177-3AD203B41FA5}">
                      <a16:colId xmlns:a16="http://schemas.microsoft.com/office/drawing/2014/main" val="3330053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Technique Used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What it solves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Advantages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Key Limitations</a:t>
                      </a:r>
                    </a:p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27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Plant Disease Classification With Deep-Learning-Based Prediction Model Using Explainable Artificial Intelligence :</a:t>
                      </a:r>
                    </a:p>
                    <a:p>
                      <a:r>
                        <a:rPr lang="en-GB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Nigar</a:t>
                      </a:r>
                      <a:r>
                        <a:rPr lang="en-GB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IEEE Access,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transfer learning, EfficientNet-B0, MobileNetV2, ResNet-50, LIME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Classifies plant diseases and explains which image regions influence model predictions.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99.69% accuracy; LIME provides visual explanations; useful for interpretable disease classification.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autonomous rover or irrigation; dataset performance may not generalize to real-world conditions; explanations do not guarantee correct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91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 Disease Detection Using an Improved YOLOv8 Algorithm in the Greenhouse Plant Environment :</a:t>
                      </a:r>
                    </a:p>
                    <a:p>
                      <a:r>
                        <a:rPr lang="en-GB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and Liu, Scientific Reports,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YOLOv8n, C2fGhost, </a:t>
                      </a:r>
                      <a:r>
                        <a:rPr lang="en-GB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GhostConv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Occlusion Perception Attention Module, feature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and localizes vegetable-disease regions in greenhouse images, including complex backgrounds and partial occlusion.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detection architecture; combines attention and feature extraction; suited to greenhouse disease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autonomous rover or automated treatment; generalization to other environments is uncertain; real-time Raspberry Pi performance requires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62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014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13" y="125413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25413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Google Shape;164;p7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15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65" name="Google Shape;165;p7"/>
          <p:cNvSpPr txBox="1"/>
          <p:nvPr/>
        </p:nvSpPr>
        <p:spPr>
          <a:xfrm>
            <a:off x="1160463" y="417513"/>
            <a:ext cx="6011862" cy="92075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kern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ARCHITECTURE</a:t>
            </a:r>
            <a:r>
              <a:rPr lang="en-US" sz="3600" b="1" kern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endParaRPr lang="en-US" altLang="en-US" b="1" dirty="0"/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66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CB3F70-EA63-4A27-8DC4-C2C183CC8AAE}"/>
              </a:ext>
            </a:extLst>
          </p:cNvPr>
          <p:cNvSpPr txBox="1"/>
          <p:nvPr/>
        </p:nvSpPr>
        <p:spPr>
          <a:xfrm>
            <a:off x="386051" y="1440736"/>
            <a:ext cx="8277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Low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 &amp; Data Collection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Low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Camera captures leaf images, while soil/environmental sensors and GPS 	collect plant and location data.</a:t>
            </a:r>
          </a:p>
          <a:p>
            <a:pPr marL="285750" indent="-285750" algn="justLow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Processing &amp; AI</a:t>
            </a:r>
          </a:p>
          <a:p>
            <a:pPr algn="justLow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Raspberry Pi processes the images and runs the trained ML model to 	detect 	healthy/diseased leaves and calculate confidence.</a:t>
            </a:r>
          </a:p>
          <a:p>
            <a:pPr marL="285750" indent="-285750" algn="justLow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Control &amp; IoT</a:t>
            </a:r>
          </a:p>
          <a:p>
            <a:pPr algn="justLow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ESP32 controls the motors, sensors, and water/pesticide pumps, 	communicating  with the Raspberry Pi</a:t>
            </a:r>
          </a:p>
          <a:p>
            <a:pPr marL="285750" indent="-285750" algn="justLow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</a:t>
            </a:r>
          </a:p>
          <a:p>
            <a:pPr algn="justLow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AI results, sensor data, GPS and robot status, and stores 	them in PostgreSQL.</a:t>
            </a:r>
          </a:p>
          <a:p>
            <a:pPr marL="285750" indent="-285750" algn="justLow"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Action</a:t>
            </a:r>
          </a:p>
          <a:p>
            <a:pPr algn="justLow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React dashboard displays plant health, alerts, maps and robot status; the 	operator can approve treatment, which sends commands back to the 	ESP32.</a:t>
            </a:r>
          </a:p>
          <a:p>
            <a:pPr marL="285750" indent="-285750" algn="justLow">
              <a:buFont typeface="Arial" panose="020B0604020202020204" pitchFamily="34" charset="0"/>
              <a:buChar char="•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13" y="125413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25413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Google Shape;164;p7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16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65" name="Google Shape;165;p7"/>
          <p:cNvSpPr txBox="1"/>
          <p:nvPr/>
        </p:nvSpPr>
        <p:spPr>
          <a:xfrm>
            <a:off x="1160463" y="417513"/>
            <a:ext cx="6011862" cy="135191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kern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 Regular" panose="02020503050405090304" charset="0"/>
                <a:ea typeface="Times New Roman" panose="02020503050405090304"/>
                <a:cs typeface="Times New Roman Regular" panose="02020503050405090304" charset="0"/>
                <a:sym typeface="Times New Roman" panose="02020503050405090304"/>
              </a:rPr>
              <a:t>ARCHITECTURE</a:t>
            </a:r>
            <a:endParaRPr lang="en-US" sz="3600" b="1" kern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 Regular" panose="02020503050405090304" charset="0"/>
              <a:ea typeface="Times New Roman" panose="02020503050405090304"/>
              <a:cs typeface="Times New Roman Regular" panose="02020503050405090304" charset="0"/>
              <a:sym typeface="Times New Roman" panose="02020503050405090304"/>
            </a:endParaRPr>
          </a:p>
          <a:p>
            <a:pPr marL="0" lvl="0" indent="0" algn="ctr" eaLnBrk="1" hangingPunct="1">
              <a:buNone/>
            </a:pPr>
            <a:r>
              <a:rPr lang="en-US" sz="3200" b="1" kern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 Regular" panose="02020503050405090304" charset="0"/>
                <a:ea typeface="Times New Roman" panose="02020503050405090304"/>
                <a:cs typeface="Times New Roman Regular" panose="02020503050405090304" charset="0"/>
                <a:sym typeface="Times New Roman" panose="02020503050405090304"/>
              </a:rPr>
              <a:t>Block </a:t>
            </a:r>
            <a:r>
              <a:rPr lang="en-US" altLang="en-US" sz="3200" b="1" dirty="0">
                <a:latin typeface="Times New Roman Regular" panose="02020503050405090304" charset="0"/>
                <a:cs typeface="Times New Roman Regular" panose="02020503050405090304" charset="0"/>
                <a:sym typeface="Times New Roman" panose="02020503050405090304" pitchFamily="18" charset="0"/>
              </a:rPr>
              <a:t>Diagram</a:t>
            </a:r>
            <a:endParaRPr lang="en-US" altLang="en-US" b="1" dirty="0"/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66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BB880-0746-4778-9B4A-7D9EAB489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45" y="1511246"/>
            <a:ext cx="8405091" cy="45578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13" y="125413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1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25413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Google Shape;164;p7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17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3" name="Google Shape;165;p7"/>
          <p:cNvSpPr txBox="1"/>
          <p:nvPr/>
        </p:nvSpPr>
        <p:spPr>
          <a:xfrm>
            <a:off x="1474788" y="209953"/>
            <a:ext cx="6011862" cy="1477287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6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 Bold" panose="02020503050405090304" charset="0"/>
                <a:ea typeface="Times New Roman" panose="02020503050405090304"/>
                <a:cs typeface="Times New Roman Bold" panose="02020503050405090304" charset="0"/>
                <a:sym typeface="Times New Roman" panose="02020503050405090304"/>
              </a:rPr>
              <a:t>HARDWARE AND SOFTWARE</a:t>
            </a:r>
            <a:endParaRPr lang="en-US" altLang="en-US" dirty="0"/>
          </a:p>
          <a:p>
            <a:pPr marL="0" lvl="0" indent="0" algn="ctr" eaLnBrk="1" hangingPunct="1"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4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6BEDF-D00D-4B67-83A3-99D612E0F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88" y="1448656"/>
            <a:ext cx="8229601" cy="4705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18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920750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6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DATASET DETAILS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535F5-27EF-4756-BA5E-AEE2A5216602}"/>
              </a:ext>
            </a:extLst>
          </p:cNvPr>
          <p:cNvSpPr txBox="1"/>
          <p:nvPr/>
        </p:nvSpPr>
        <p:spPr>
          <a:xfrm>
            <a:off x="761999" y="1464397"/>
            <a:ext cx="75368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Scale: About 54,300 images across 38 classes (14 crop types).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Controlled, studio-style single-leaf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Use: Baseline CNN training and fundamental disease classification.</a:t>
            </a:r>
          </a:p>
          <a:p>
            <a:pPr algn="just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Scale: About 2,500 images across 30 classes (13 crop types).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Real-world, in-the-wild images with complex backgrounds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Use: Testing object detection (YOLO) and rover camera robustness.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Deep-Plant-Disease Dataset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Scale: About 248,000+ images across 55 species and 175 disease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Massive scale with high diversity across mixed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Use: Fine-tuning advanced deep learning models and handling rare pathologies.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19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32844-166F-4481-911C-F275FB267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56" y="1282182"/>
            <a:ext cx="4992763" cy="35335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02B515-9D26-4ED7-9581-2B198252F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975" y="1314380"/>
            <a:ext cx="3713769" cy="501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38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20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eaLnBrk="1" hangingPunct="1">
              <a:buNone/>
            </a:pPr>
            <a:r>
              <a:rPr lang="en-US" sz="32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9B534-35AD-4D4E-85CF-AA4B2B29F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50" y="1293090"/>
            <a:ext cx="4095750" cy="5088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AF1D4-4288-4790-9712-6037AFCC0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461" y="519402"/>
            <a:ext cx="3215090" cy="58432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21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6A878-5DA2-4CEE-8955-6C744599F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2" y="1366981"/>
            <a:ext cx="8817637" cy="4858327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538475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smtClean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22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A0698-C702-473B-AA2A-4807F9376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0" y="1316516"/>
            <a:ext cx="4496631" cy="2195767"/>
          </a:xfrm>
          <a:prstGeom prst="rect">
            <a:avLst/>
          </a:prstGeom>
          <a:ln w="38100"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F2BC25-8883-45C8-AF8C-BEEBC103C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0" y="3729326"/>
            <a:ext cx="4496631" cy="2277568"/>
          </a:xfrm>
          <a:prstGeom prst="rect">
            <a:avLst/>
          </a:prstGeom>
          <a:ln w="3810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BED78-8C23-48F3-9A60-D6D1FD957C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463" y="3730990"/>
            <a:ext cx="4329437" cy="2277568"/>
          </a:xfrm>
          <a:prstGeom prst="rect">
            <a:avLst/>
          </a:prstGeom>
          <a:ln w="38100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B2B0AA-6766-430B-8C2A-2F4AF66793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463" y="1316517"/>
            <a:ext cx="4329437" cy="2213426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454479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23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57188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355FF-0530-4F2A-A221-E0E50C292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1281" y="1913663"/>
            <a:ext cx="4679616" cy="3722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A38A1D-490B-4E33-B002-9F5DEAE954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659" y="1435108"/>
            <a:ext cx="3703618" cy="467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83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171;p8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438" y="104775"/>
            <a:ext cx="1052512" cy="1100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Google Shape;172;p8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" y="104775"/>
            <a:ext cx="98266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Google Shape;174;p8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24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Google Shape;175;p8"/>
          <p:cNvSpPr txBox="1"/>
          <p:nvPr/>
        </p:nvSpPr>
        <p:spPr>
          <a:xfrm>
            <a:off x="1574800" y="386655"/>
            <a:ext cx="6011863" cy="85915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sz="3200" b="1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PROGRESS</a:t>
            </a:r>
            <a:endParaRPr lang="en-US" altLang="en-US" sz="3600" b="1" dirty="0">
              <a:latin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  <a:p>
            <a:pPr marL="0" lvl="0" indent="0" algn="ctr" eaLnBrk="1" hangingPunct="1">
              <a:buNone/>
            </a:pPr>
            <a:endParaRPr lang="en-US" altLang="en-US" sz="1800" b="1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E74A448-06D4-43AA-A4F0-128272794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85171"/>
              </p:ext>
            </p:extLst>
          </p:nvPr>
        </p:nvGraphicFramePr>
        <p:xfrm>
          <a:off x="461313" y="1857695"/>
          <a:ext cx="8238836" cy="4172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9709">
                  <a:extLst>
                    <a:ext uri="{9D8B030D-6E8A-4147-A177-3AD203B41FA5}">
                      <a16:colId xmlns:a16="http://schemas.microsoft.com/office/drawing/2014/main" val="3879514117"/>
                    </a:ext>
                  </a:extLst>
                </a:gridCol>
                <a:gridCol w="2059709">
                  <a:extLst>
                    <a:ext uri="{9D8B030D-6E8A-4147-A177-3AD203B41FA5}">
                      <a16:colId xmlns:a16="http://schemas.microsoft.com/office/drawing/2014/main" val="3952724402"/>
                    </a:ext>
                  </a:extLst>
                </a:gridCol>
                <a:gridCol w="2059709">
                  <a:extLst>
                    <a:ext uri="{9D8B030D-6E8A-4147-A177-3AD203B41FA5}">
                      <a16:colId xmlns:a16="http://schemas.microsoft.com/office/drawing/2014/main" val="1776645125"/>
                    </a:ext>
                  </a:extLst>
                </a:gridCol>
                <a:gridCol w="2059709">
                  <a:extLst>
                    <a:ext uri="{9D8B030D-6E8A-4147-A177-3AD203B41FA5}">
                      <a16:colId xmlns:a16="http://schemas.microsoft.com/office/drawing/2014/main" val="1574229851"/>
                    </a:ext>
                  </a:extLst>
                </a:gridCol>
              </a:tblGrid>
              <a:tr h="45829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8156"/>
                  </a:ext>
                </a:extLst>
              </a:tr>
              <a:tr h="640360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DC-DC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VOLTAGE OF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LED NOT 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17912"/>
                  </a:ext>
                </a:extLst>
              </a:tr>
              <a:tr h="92295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CONNECTED DAMAGED BUCK CONVERTER TO ESP32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BLINKER PROGRAM NOT 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75525"/>
                  </a:ext>
                </a:extLst>
              </a:tr>
              <a:tr h="458297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(4GB)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PURCHASED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 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28392"/>
                  </a:ext>
                </a:extLst>
              </a:tr>
              <a:tr h="788612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5/8 MP CAMERA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PURCHASED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COMPATIBLITY ISSUES WITH OTHER SBC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51654"/>
                  </a:ext>
                </a:extLst>
              </a:tr>
              <a:tr h="904038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12aH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HIGH VOLTAGE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DAMAGED 2 COMPONENTS BUCK AND ESP32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9053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77EF08D-B2E1-4C6D-BA42-43F726B45ADC}"/>
              </a:ext>
            </a:extLst>
          </p:cNvPr>
          <p:cNvSpPr txBox="1"/>
          <p:nvPr/>
        </p:nvSpPr>
        <p:spPr>
          <a:xfrm>
            <a:off x="443346" y="1289685"/>
            <a:ext cx="8238836" cy="4001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WHILE INTEGRATING HARDWARE </a:t>
            </a:r>
          </a:p>
        </p:txBody>
      </p:sp>
    </p:spTree>
    <p:extLst>
      <p:ext uri="{BB962C8B-B14F-4D97-AF65-F5344CB8AC3E}">
        <p14:creationId xmlns:p14="http://schemas.microsoft.com/office/powerpoint/2010/main" val="2836118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282;p21"/>
          <p:cNvSpPr>
            <a:spLocks noGrp="1"/>
          </p:cNvSpPr>
          <p:nvPr>
            <p:ph type="title"/>
          </p:nvPr>
        </p:nvSpPr>
        <p:spPr>
          <a:xfrm>
            <a:off x="1325563" y="365125"/>
            <a:ext cx="6311900" cy="598488"/>
          </a:xfrm>
        </p:spPr>
        <p:txBody>
          <a:bodyPr vert="horz" wrap="square" lIns="91425" tIns="45700" rIns="91425" bIns="45700" anchor="ctr" anchorCtr="0"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CONCLUSION</a:t>
            </a:r>
            <a:endParaRPr lang="en-US" altLang="en-US" sz="32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35843" name="Google Shape;285;p21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0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25</a:t>
            </a:fld>
            <a:endParaRPr lang="en-US" altLang="en-US" sz="10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pic>
        <p:nvPicPr>
          <p:cNvPr id="35844" name="Google Shape;286;p21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8" y="112713"/>
            <a:ext cx="982662" cy="11033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5" name="Google Shape;287;p21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313" y="71438"/>
            <a:ext cx="1049337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6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88A5D-F903-432A-A6CE-71149487E453}"/>
              </a:ext>
            </a:extLst>
          </p:cNvPr>
          <p:cNvSpPr txBox="1"/>
          <p:nvPr/>
        </p:nvSpPr>
        <p:spPr>
          <a:xfrm>
            <a:off x="343622" y="1939636"/>
            <a:ext cx="82757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Flora-Bot Crop Care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robotic system that integrates robotics, IoT, computer vision, and artificial intelligence to automate plant health monitoring and crop care. The rover captures live leaf images , detects plant diseases using a trained deep learning  model, and automatically sprays water or pesticides when needed. This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conserves water, and minimizes chemical usage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improving plant health. The system also provides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an operator dashboard. With future enhancements such as autonomous navigation and cloud connectivity, Flora-Bot Crop Care has the potential to become an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scalable solution for smart agriculture.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302;p23"/>
          <p:cNvSpPr>
            <a:spLocks noGrp="1"/>
          </p:cNvSpPr>
          <p:nvPr>
            <p:ph type="title"/>
          </p:nvPr>
        </p:nvSpPr>
        <p:spPr>
          <a:xfrm>
            <a:off x="161925" y="146844"/>
            <a:ext cx="8391525" cy="1079500"/>
          </a:xfrm>
        </p:spPr>
        <p:txBody>
          <a:bodyPr vert="horz" wrap="square" lIns="91425" tIns="45700" rIns="91425" bIns="45700" anchor="ctr" anchorCtr="0"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GANTT CHART (Phase 2)</a:t>
            </a:r>
            <a:endParaRPr lang="en-US" altLang="en-US" sz="32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37892" name="Google Shape;305;p23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26</a:t>
            </a:fld>
            <a:endParaRPr lang="en-US" altLang="en-US" sz="12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pic>
        <p:nvPicPr>
          <p:cNvPr id="37893" name="Google Shape;306;p23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3" y="160338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Google Shape;307;p23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136525"/>
            <a:ext cx="105251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5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F27F8270-2372-479A-8A04-1484F10D0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705071"/>
              </p:ext>
            </p:extLst>
          </p:nvPr>
        </p:nvGraphicFramePr>
        <p:xfrm>
          <a:off x="849745" y="1501833"/>
          <a:ext cx="7407565" cy="3418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982">
                  <a:extLst>
                    <a:ext uri="{9D8B030D-6E8A-4147-A177-3AD203B41FA5}">
                      <a16:colId xmlns:a16="http://schemas.microsoft.com/office/drawing/2014/main" val="125630956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636738964"/>
                    </a:ext>
                  </a:extLst>
                </a:gridCol>
                <a:gridCol w="1394691">
                  <a:extLst>
                    <a:ext uri="{9D8B030D-6E8A-4147-A177-3AD203B41FA5}">
                      <a16:colId xmlns:a16="http://schemas.microsoft.com/office/drawing/2014/main" val="127464142"/>
                    </a:ext>
                  </a:extLst>
                </a:gridCol>
                <a:gridCol w="1427049">
                  <a:extLst>
                    <a:ext uri="{9D8B030D-6E8A-4147-A177-3AD203B41FA5}">
                      <a16:colId xmlns:a16="http://schemas.microsoft.com/office/drawing/2014/main" val="3837718610"/>
                    </a:ext>
                  </a:extLst>
                </a:gridCol>
                <a:gridCol w="1390043">
                  <a:extLst>
                    <a:ext uri="{9D8B030D-6E8A-4147-A177-3AD203B41FA5}">
                      <a16:colId xmlns:a16="http://schemas.microsoft.com/office/drawing/2014/main" val="1079826368"/>
                    </a:ext>
                  </a:extLst>
                </a:gridCol>
              </a:tblGrid>
              <a:tr h="641003"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NOVEMBER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676603"/>
                  </a:ext>
                </a:extLst>
              </a:tr>
              <a:tr h="534324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541932"/>
                  </a:ext>
                </a:extLst>
              </a:tr>
              <a:tr h="630844">
                <a:tc>
                  <a:txBody>
                    <a:bodyPr/>
                    <a:lstStyle/>
                    <a:p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973448"/>
                  </a:ext>
                </a:extLst>
              </a:tr>
              <a:tr h="582816">
                <a:tc>
                  <a:txBody>
                    <a:bodyPr/>
                    <a:lstStyle/>
                    <a:p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261510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MODEL</a:t>
                      </a:r>
                      <a:r>
                        <a:rPr lang="en-GB" dirty="0"/>
                        <a:t> </a:t>
                      </a:r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279481"/>
                  </a:ext>
                </a:extLst>
              </a:tr>
              <a:tr h="514925">
                <a:tc>
                  <a:txBody>
                    <a:bodyPr/>
                    <a:lstStyle/>
                    <a:p>
                      <a:r>
                        <a:rPr lang="en-GB" sz="14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7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42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302;p23"/>
          <p:cNvSpPr>
            <a:spLocks noGrp="1"/>
          </p:cNvSpPr>
          <p:nvPr>
            <p:ph type="title"/>
          </p:nvPr>
        </p:nvSpPr>
        <p:spPr>
          <a:xfrm>
            <a:off x="138112" y="173038"/>
            <a:ext cx="8391525" cy="1079500"/>
          </a:xfrm>
        </p:spPr>
        <p:txBody>
          <a:bodyPr vert="horz" wrap="square" lIns="91425" tIns="45700" rIns="91425" bIns="45700" anchor="ctr" anchorCtr="0"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200" b="1" dirty="0">
                <a:latin typeface="Times New Roman" panose="02020503050405090304" pitchFamily="18" charset="0"/>
                <a:ea typeface="Times New Roman" panose="02020503050405090304" pitchFamily="18" charset="0"/>
                <a:sym typeface="Times New Roman" panose="02020503050405090304" pitchFamily="18" charset="0"/>
              </a:rPr>
              <a:t>Sustainable Development Goal</a:t>
            </a:r>
            <a:br>
              <a:rPr lang="en-US" altLang="en-US" sz="3200" b="1" dirty="0">
                <a:latin typeface="Times New Roman" panose="02020503050405090304" pitchFamily="18" charset="0"/>
                <a:ea typeface="Times New Roman" panose="02020503050405090304" pitchFamily="18" charset="0"/>
                <a:sym typeface="Times New Roman" panose="02020503050405090304" pitchFamily="18" charset="0"/>
              </a:rPr>
            </a:br>
            <a:r>
              <a:rPr lang="en-US" altLang="en-US" sz="3200" b="1" dirty="0">
                <a:latin typeface="Times New Roman" panose="02020503050405090304" pitchFamily="18" charset="0"/>
                <a:ea typeface="Times New Roman" panose="02020503050405090304" pitchFamily="18" charset="0"/>
                <a:sym typeface="Times New Roman" panose="02020503050405090304" pitchFamily="18" charset="0"/>
              </a:rPr>
              <a:t>(SDG’s)</a:t>
            </a:r>
          </a:p>
        </p:txBody>
      </p:sp>
      <p:sp>
        <p:nvSpPr>
          <p:cNvPr id="37891" name="Google Shape;303;p23"/>
          <p:cNvSpPr>
            <a:spLocks noGrp="1"/>
          </p:cNvSpPr>
          <p:nvPr>
            <p:ph type="body" idx="1"/>
          </p:nvPr>
        </p:nvSpPr>
        <p:spPr>
          <a:xfrm>
            <a:off x="123825" y="1444625"/>
            <a:ext cx="8896350" cy="4725988"/>
          </a:xfrm>
        </p:spPr>
        <p:txBody>
          <a:bodyPr vert="horz" wrap="square" lIns="91425" tIns="45700" rIns="91425" bIns="45700" anchor="t" anchorCtr="0"/>
          <a:lstStyle/>
          <a:p>
            <a:pPr indent="-457200" algn="just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None/>
            </a:pPr>
            <a:endParaRPr lang="en-US" altLang="en-US" sz="6000" dirty="0">
              <a:latin typeface="Times New Roman" panose="02020503050405090304" pitchFamily="18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indent="-457200" algn="just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None/>
            </a:pPr>
            <a:endParaRPr lang="en-US" altLang="en-US" sz="1600" dirty="0">
              <a:latin typeface="Times New Roman" panose="02020503050405090304" pitchFamily="18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892" name="Google Shape;305;p23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27</a:t>
            </a:fld>
            <a:endParaRPr lang="en-US" altLang="en-US" sz="12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pic>
        <p:nvPicPr>
          <p:cNvPr id="37893" name="Google Shape;306;p23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3" y="160338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Google Shape;307;p23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136525"/>
            <a:ext cx="105251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5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C58BA8-3165-485F-8F6E-583AA181957C}"/>
              </a:ext>
            </a:extLst>
          </p:cNvPr>
          <p:cNvSpPr txBox="1"/>
          <p:nvPr/>
        </p:nvSpPr>
        <p:spPr>
          <a:xfrm>
            <a:off x="378690" y="1265238"/>
            <a:ext cx="85621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2 – Zero Hunger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FloraBot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sustainable agriculture by using AI-based plant disease detection and smart irrigation to improve plant health, reduce crop losses, and enhance agricultural productivity</a:t>
            </a:r>
          </a:p>
          <a:p>
            <a:pPr algn="just"/>
            <a:endParaRPr lang="en-GB" dirty="0"/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6 – Clean Water and Sanitation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FloraBot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efficient water management by monitoring soil moisture and providing irrigation only when required, thereby minimizing water wastage</a:t>
            </a:r>
            <a:r>
              <a:rPr lang="en-GB" dirty="0"/>
              <a:t>.</a:t>
            </a:r>
          </a:p>
          <a:p>
            <a:pPr algn="just"/>
            <a:endParaRPr lang="en-GB" dirty="0"/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FloraBot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Artificial Intelligence, IoT, Robotics, Computer Vision, and Edge Computing to develop an innovative and intelligent plant health monitoring system.</a:t>
            </a:r>
          </a:p>
          <a:p>
            <a:pPr algn="just"/>
            <a:endParaRPr lang="en-GB" dirty="0"/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and Production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FloraBot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responsible use of natural resources by reducing unnecessary water consumption and enabling targeted application of pesticides based on real-time plant health analysis.</a:t>
            </a:r>
          </a:p>
          <a:p>
            <a:pPr algn="just"/>
            <a:endParaRPr lang="en-GB" dirty="0"/>
          </a:p>
          <a:p>
            <a:pPr algn="just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15 – Life on Land</a:t>
            </a:r>
          </a:p>
          <a:p>
            <a:pPr algn="just"/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FloraBot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protect plant ecosystems through continuous monitoring, early disease detection, and timely treatment, contributing to healthier and more sustainable plant life.</a:t>
            </a:r>
          </a:p>
        </p:txBody>
      </p:sp>
    </p:spTree>
    <p:extLst>
      <p:ext uri="{BB962C8B-B14F-4D97-AF65-F5344CB8AC3E}">
        <p14:creationId xmlns:p14="http://schemas.microsoft.com/office/powerpoint/2010/main" val="1989018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302;p23"/>
          <p:cNvSpPr>
            <a:spLocks noGrp="1"/>
          </p:cNvSpPr>
          <p:nvPr>
            <p:ph type="title"/>
          </p:nvPr>
        </p:nvSpPr>
        <p:spPr>
          <a:xfrm>
            <a:off x="138112" y="80530"/>
            <a:ext cx="8391525" cy="1079500"/>
          </a:xfrm>
        </p:spPr>
        <p:txBody>
          <a:bodyPr vert="horz" wrap="square" lIns="91425" tIns="45700" rIns="91425" bIns="45700" anchor="ctr" anchorCtr="0"/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Times New Roman" panose="02020503050405090304" pitchFamily="18" charset="0"/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REFERENCES</a:t>
            </a:r>
            <a:endParaRPr lang="en-US" altLang="en-US" sz="32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37891" name="Google Shape;303;p23"/>
          <p:cNvSpPr>
            <a:spLocks noGrp="1"/>
          </p:cNvSpPr>
          <p:nvPr>
            <p:ph type="body" idx="1"/>
          </p:nvPr>
        </p:nvSpPr>
        <p:spPr>
          <a:xfrm>
            <a:off x="123825" y="1444625"/>
            <a:ext cx="8896350" cy="4725988"/>
          </a:xfrm>
        </p:spPr>
        <p:txBody>
          <a:bodyPr vert="horz" wrap="square" lIns="91425" tIns="45700" rIns="91425" bIns="45700" anchor="t" anchorCtr="0"/>
          <a:lstStyle/>
          <a:p>
            <a:pPr indent="-457200" algn="just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None/>
            </a:pPr>
            <a:endParaRPr lang="en-US" altLang="en-US" sz="6000" dirty="0">
              <a:latin typeface="Times New Roman" panose="02020503050405090304" pitchFamily="18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indent="-457200" algn="just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None/>
            </a:pPr>
            <a:endParaRPr lang="en-US" altLang="en-US" sz="1600" dirty="0">
              <a:latin typeface="Times New Roman" panose="02020503050405090304" pitchFamily="18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892" name="Google Shape;305;p23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28</a:t>
            </a:fld>
            <a:endParaRPr lang="en-US" altLang="en-US" sz="12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pic>
        <p:nvPicPr>
          <p:cNvPr id="37893" name="Google Shape;306;p23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3" y="160338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Google Shape;307;p23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136525"/>
            <a:ext cx="1052513" cy="110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5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565D3-CF3D-423F-B264-FB8DD5C918BE}"/>
              </a:ext>
            </a:extLst>
          </p:cNvPr>
          <p:cNvSpPr txBox="1"/>
          <p:nvPr/>
        </p:nvSpPr>
        <p:spPr>
          <a:xfrm>
            <a:off x="1" y="1344613"/>
            <a:ext cx="91439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Rosero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-Montalvo, A. Ponce, M. V. Garcia, and R. V. Sanchez, “Smart Farming Robot for Detecting Environmental Conditions in a Greenhouse,”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1–16, 2023.</a:t>
            </a:r>
          </a:p>
          <a:p>
            <a:pPr algn="just"/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S. Joseph, S. Mathew, P. Thomas, and R. K. George, “Real-Time Plant Disease Dataset Development and Detection of Plant Disease Using Deep Learning,”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2024.</a:t>
            </a:r>
          </a:p>
          <a:p>
            <a:pPr algn="just"/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lang="en-GB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Nigar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Rahman, F. Islam, and M. R. Hossain, “Improving Plant Disease Classification With Deep-Learning-Based Prediction Model Using Explainable Artificial Intelligence,”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2024.</a:t>
            </a:r>
          </a:p>
          <a:p>
            <a:pPr algn="just"/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et al., "PMVT: A Lightweight Vision Transformer for Plant Disease Identification on Mobile Devices,"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Plant Science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algn="just"/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 and Liu, "Vegetable Disease Detection Using an Improved YOLOv8 Algorithm in the Greenhouse Plant Environment,"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</a:t>
            </a:r>
          </a:p>
          <a:p>
            <a:pPr algn="just"/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"MS-Net: A Novel Lightweight and Precise Model for Plant Disease Identification," </a:t>
            </a:r>
            <a:r>
              <a:rPr lang="en-GB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Plant Science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Google Shape;161;p7" descr="C:\Users\hp\Desktop\vidya project\36.jpe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638" y="0"/>
            <a:ext cx="1052512" cy="1098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Google Shape;162;p7" descr="C:\Users\hp\Desktop\vidya project\VTU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46615"/>
            <a:ext cx="981075" cy="109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Google Shape;164;p7"/>
          <p:cNvSpPr txBox="1">
            <a:spLocks noGrp="1"/>
          </p:cNvSpPr>
          <p:nvPr>
            <p:ph type="sldNum" idx="12"/>
          </p:nvPr>
        </p:nvSpPr>
        <p:spPr>
          <a:xfrm>
            <a:off x="6476423" y="6559117"/>
            <a:ext cx="2057400" cy="365125"/>
          </a:xfrm>
        </p:spPr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29</a:t>
            </a:fld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7" name="Google Shape;165;p7"/>
          <p:cNvSpPr txBox="1"/>
          <p:nvPr/>
        </p:nvSpPr>
        <p:spPr>
          <a:xfrm>
            <a:off x="1304925" y="46615"/>
            <a:ext cx="6011862" cy="1077178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REFERENCE TABLE</a:t>
            </a:r>
          </a:p>
          <a:p>
            <a:pPr marL="0" lvl="0" indent="0" algn="ctr" eaLnBrk="1" hangingPunct="1">
              <a:buNone/>
            </a:pPr>
            <a:endParaRPr lang="en-US" altLang="en-US" dirty="0"/>
          </a:p>
          <a:p>
            <a:pPr marL="0" lvl="0" indent="0" algn="ctr" eaLnBrk="1" hangingPunct="1">
              <a:buNone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18" name="Google Shape;100;p1"/>
          <p:cNvSpPr txBox="1"/>
          <p:nvPr/>
        </p:nvSpPr>
        <p:spPr>
          <a:xfrm>
            <a:off x="2833111" y="6559117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19C7B83-2B76-467B-A15E-56C7B5B28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62284"/>
              </p:ext>
            </p:extLst>
          </p:nvPr>
        </p:nvGraphicFramePr>
        <p:xfrm>
          <a:off x="120073" y="1190135"/>
          <a:ext cx="8903854" cy="48506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7018">
                  <a:extLst>
                    <a:ext uri="{9D8B030D-6E8A-4147-A177-3AD203B41FA5}">
                      <a16:colId xmlns:a16="http://schemas.microsoft.com/office/drawing/2014/main" val="1792357208"/>
                    </a:ext>
                  </a:extLst>
                </a:gridCol>
                <a:gridCol w="3666836">
                  <a:extLst>
                    <a:ext uri="{9D8B030D-6E8A-4147-A177-3AD203B41FA5}">
                      <a16:colId xmlns:a16="http://schemas.microsoft.com/office/drawing/2014/main" val="860042852"/>
                    </a:ext>
                  </a:extLst>
                </a:gridCol>
              </a:tblGrid>
              <a:tr h="46155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90204"/>
                      </a:pPr>
                      <a:r>
                        <a:rPr lang="en-GB" sz="1800" b="1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90204"/>
                        </a:rPr>
                        <a:t>REFERNCE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47734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Low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Farming Robot for Detecting Environmental Conditions in a Greenhouse :</a:t>
                      </a:r>
                    </a:p>
                    <a:p>
                      <a:pPr algn="justLow"/>
                      <a:r>
                        <a:rPr lang="en-GB" sz="1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Rosero</a:t>
                      </a:r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-Montalvo et al., IEEE Access,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https://ieeexplore.ieee.org/document/10146280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574092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Plant Disease Dataset Development and Detection of Plant Disease Using Deep Learning :</a:t>
                      </a:r>
                    </a:p>
                    <a:p>
                      <a:pPr algn="just"/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S. Joseph et al., IEEE Access,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https://ieeexplore.ieee.org/document/10414062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54920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Low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MS-Net: A Novel Lightweight and Precise Model for Plant Disease Identification :</a:t>
                      </a:r>
                    </a:p>
                    <a:p>
                      <a:pPr algn="justLow"/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Plant Science,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Low"/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https://www.frontiersin.org/journals/plant-science/articles/10.3389/fpls.2023.1276728/full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318501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PMVT: A Lightweight Vision Transformer for Plant Disease Identification on Mobile Devices :</a:t>
                      </a:r>
                    </a:p>
                    <a:p>
                      <a:pPr algn="just"/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al., Frontiers in Plant Science,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https://www.frontiersin.org/journals/plant-science/articles/10.3389/fpls.2023.1256773/full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5359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Plant Disease Classification With Deep-Learning-Based Prediction Model Using Explainable Artificial Intelligence :</a:t>
                      </a:r>
                    </a:p>
                    <a:p>
                      <a:pPr algn="just"/>
                      <a:r>
                        <a:rPr lang="en-GB" sz="1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Nigar</a:t>
                      </a:r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IEEE Access,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https://ieeexplore.ieee.org/document/10599267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8350"/>
                  </a:ext>
                </a:extLst>
              </a:tr>
              <a:tr h="644896">
                <a:tc>
                  <a:txBody>
                    <a:bodyPr/>
                    <a:lstStyle/>
                    <a:p>
                      <a:pPr algn="just"/>
                      <a:r>
                        <a:rPr lang="en-GB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 Disease Detection Using an Improved YOLOv8 Algorithm in the Greenhouse Plant Environment:</a:t>
                      </a:r>
                    </a:p>
                    <a:p>
                      <a:pPr algn="just"/>
                      <a:r>
                        <a:rPr lang="en-GB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and Liu, Scientific Reports,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https://www.nature.com/articles/s41598-024-54540-9</a:t>
                      </a:r>
                      <a:endParaRPr lang="en-GB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825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1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331;p26"/>
          <p:cNvSpPr txBox="1">
            <a:spLocks noGrp="1"/>
          </p:cNvSpPr>
          <p:nvPr>
            <p:ph type="sldNum" idx="12"/>
          </p:nvPr>
        </p:nvSpPr>
        <p:spPr/>
        <p:txBody>
          <a:bodyPr lIns="91425" tIns="45700" rIns="91425" bIns="45700" anchor="ctr" anchorCtr="0"/>
          <a:lstStyle/>
          <a:p>
            <a:pPr marL="0" indent="0" algn="r" eaLnBrk="1" hangingPunct="1">
              <a:buNone/>
            </a:pPr>
            <a:fld id="{9A0DB2DC-4C9A-4742-B13C-FB6460FD3503}" type="slidenum">
              <a:rPr lang="en-US" altLang="en-US" sz="12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30</a:t>
            </a:fld>
            <a:endParaRPr lang="en-US" altLang="en-US" sz="1200" b="1" dirty="0">
              <a:latin typeface="Times New Roman" panose="02020503050405090304" pitchFamily="18" charset="0"/>
              <a:ea typeface="Times New Roman" panose="02020503050405090304" pitchFamily="18" charset="0"/>
              <a:cs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sp>
        <p:nvSpPr>
          <p:cNvPr id="39939" name="Google Shape;332;p26"/>
          <p:cNvSpPr txBox="1"/>
          <p:nvPr/>
        </p:nvSpPr>
        <p:spPr>
          <a:xfrm>
            <a:off x="2046288" y="2527300"/>
            <a:ext cx="4810125" cy="861734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>
            <a:sp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5000" b="1" dirty="0">
                <a:latin typeface="Times New Roman" panose="02020503050405090304" pitchFamily="18" charset="0"/>
                <a:cs typeface="Times New Roman" panose="02020503050405090304" pitchFamily="18" charset="0"/>
                <a:sym typeface="Times New Roman" panose="02020503050405090304" pitchFamily="18" charset="0"/>
              </a:rPr>
              <a:t>THANK YOU</a:t>
            </a:r>
            <a:endParaRPr lang="en-US" altLang="en-US" sz="5000" b="1" dirty="0">
              <a:latin typeface="Times New Roman" panose="02020503050405090304" pitchFamily="18" charset="0"/>
              <a:ea typeface="Times New Roman" panose="02020503050405090304" pitchFamily="18" charset="0"/>
              <a:sym typeface="Times New Roman" panose="02020503050405090304" pitchFamily="18" charset="0"/>
            </a:endParaRPr>
          </a:p>
        </p:txBody>
      </p:sp>
      <p:pic>
        <p:nvPicPr>
          <p:cNvPr id="39940" name="Google Shape;333;p26" descr="C:\Users\hp\Desktop\vidya project\VTU.png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3" y="303213"/>
            <a:ext cx="981075" cy="1100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1" name="Google Shape;334;p26" descr="C:\Users\hp\Desktop\vidya project\36.jpe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38" y="303213"/>
            <a:ext cx="1052512" cy="1100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2" name="Google Shape;100;p1"/>
          <p:cNvSpPr txBox="1"/>
          <p:nvPr/>
        </p:nvSpPr>
        <p:spPr>
          <a:xfrm>
            <a:off x="2814638" y="6362700"/>
            <a:ext cx="3086100" cy="365125"/>
          </a:xfrm>
          <a:prstGeom prst="rect">
            <a:avLst/>
          </a:prstGeom>
          <a:noFill/>
          <a:ln w="9525">
            <a:noFill/>
          </a:ln>
        </p:spPr>
        <p:txBody>
          <a:bodyPr lIns="91425" tIns="45700" rIns="91425" bIns="45700" anchor="ctr" anchorCtr="0"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•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–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90204" pitchFamily="34" charset="0"/>
              <a:buChar char="»"/>
              <a:defRPr sz="1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 pitchFamily="34" charset="0"/>
              </a:defRPr>
            </a:lvl5pPr>
          </a:lstStyle>
          <a:p>
            <a:pPr marL="0" lvl="0" indent="0" algn="ctr" eaLnBrk="1" hangingPunct="1"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Dept of AIML 2025-26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2503</Words>
  <Application>Microsoft Office PowerPoint</Application>
  <PresentationFormat>On-screen Show (4:3)</PresentationFormat>
  <Paragraphs>417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Times New Roman Bold</vt:lpstr>
      <vt:lpstr>Times New Roman</vt:lpstr>
      <vt:lpstr>Times New Roman Regular</vt:lpstr>
      <vt:lpstr>Google Sans</vt:lpstr>
      <vt:lpstr>Calibri</vt:lpstr>
      <vt:lpstr>Cambria Math</vt:lpstr>
      <vt:lpstr>Arial</vt:lpstr>
      <vt:lpstr>Office Theme</vt:lpstr>
      <vt:lpstr>AMC ENGINEERING COLLEGE,BENGALURU-83 (Approved by , Permanently Affiliated to VTU, Belagavi, Accredited by NAAC &amp; NBA)  DEPARTMENT OF ARTIFICIAL INTELLIGENCE &amp; MACHINE LEARNING  MAJOR PROJECT PHASE II ON  Florabot: AI-IoT based plant health monitoring system </vt:lpstr>
      <vt:lpstr>CONTENT </vt:lpstr>
      <vt:lpstr>ABSTRACT </vt:lpstr>
      <vt:lpstr>                INTRODUCTION</vt:lpstr>
      <vt:lpstr>          PROBLEM STATEMENT</vt:lpstr>
      <vt:lpstr>LITERATURE SURVEY-1 </vt:lpstr>
      <vt:lpstr>LITERATURE SURVEY-2 </vt:lpstr>
      <vt:lpstr>LITERATURE SURVEY-3 </vt:lpstr>
      <vt:lpstr>LITERATURE SURVEY-4 </vt:lpstr>
      <vt:lpstr>LITERATURE SURVEY-5 </vt:lpstr>
      <vt:lpstr>LITERATURE SURVEY-6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GANTT CHART (Phase 2)</vt:lpstr>
      <vt:lpstr>Sustainable Development Goal (SDG’s)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ENGINEERING COLLEGE,BENGALURU-83 (Approved by , Permanently Affiliated to VTU, Belagavi, Accredited by NAAC &amp; NBA)  DEPARTMENT OF ELECTRONICS &amp; COMMUNICATION ENGINEERING   PROJECT ON   DEVELOPMENT OF FOOD TRACKING SYSTEM USING MACHINE LEARNING</dc:title>
  <dc:creator>hp</dc:creator>
  <cp:lastModifiedBy>parveezsir12@gmail.com</cp:lastModifiedBy>
  <cp:revision>116</cp:revision>
  <dcterms:created xsi:type="dcterms:W3CDTF">2026-08-17T08:35:57Z</dcterms:created>
  <dcterms:modified xsi:type="dcterms:W3CDTF">2026-10-13T12:08:41Z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133DDDB6CBAF7C8A69EFED6915771831_43</vt:lpwstr>
  </property>
  <property fmtid="{D5CDD505-2E9C-101B-9397-08002B2CF9AE}" pid="3" name="KSOProductBuildVer">
    <vt:lpwstr>1033-12.1.26015.26015</vt:lpwstr>
  </property>
</Properties>
</file>